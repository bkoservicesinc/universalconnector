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1" name="r101"/>
          <p:cNvSpPr>
            <a:spLocks noGrp="1"/>
          </p:cNvSpPr>
          <p:nvPr/>
        </p:nvSpPr>
        <p:spPr>
          <a:xfrm>
            <a:off x="0" y="0"/>
            <a:ext cx="14630400" cy="621792"/>
          </a:xfrm>
          <a:prstGeom prst="roundRect">
            <a:avLst>
              <a:gd name="adj" fmla="val 0"/>
            </a:avLst>
          </a:prstGeom>
          <a:solidFill>
            <a:srgbClr val="1A1A2E"/>
          </a:solidFill>
          <a:ln w="0">
            <a:noFill/>
          </a:ln>
          <a:effectLst/>
        </p:spPr>
        <p:txBody>
          <a:bodyPr/>
          <a:lstStyle/>
          <a:p/>
        </p:txBody>
      </p:sp>
      <p:sp>
        <p:nvSpPr>
          <p:cNvPr id="102" name="r102"/>
          <p:cNvSpPr>
            <a:spLocks noGrp="1"/>
          </p:cNvSpPr>
          <p:nvPr/>
        </p:nvSpPr>
        <p:spPr>
          <a:xfrm>
            <a:off x="0" y="0"/>
            <a:ext cx="14630400" cy="621792"/>
          </a:xfrm>
          <a:prstGeom prst="roundRect">
            <a:avLst>
              <a:gd name="adj" fmla="val 0"/>
            </a:avLst>
          </a:prstGeom>
          <a:solidFill>
            <a:srgbClr val="0F3C78"/>
          </a:solidFill>
          <a:ln w="0">
            <a:noFill/>
          </a:ln>
          <a:effectLst/>
        </p:spPr>
        <p:txBody>
          <a:bodyPr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228600" y="91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B4D8"/>
                </a:solidFill>
              </a:rPr>
              <a:t>UNIVERSAL CONNECTOR — ARCHITECTURE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601200" y="128016"/>
            <a:ext cx="4846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1">
                <a:solidFill>
                  <a:srgbClr val="CCD6E8"/>
                </a:solidFill>
              </a:rPr>
              <a:t>.NET 10 Worker Service  •  CDC Bridge</a:t>
            </a:r>
          </a:p>
        </p:txBody>
      </p:sp>
      <p:sp>
        <p:nvSpPr>
          <p:cNvPr id="103" name="r103"/>
          <p:cNvSpPr>
            <a:spLocks noGrp="1"/>
          </p:cNvSpPr>
          <p:nvPr/>
        </p:nvSpPr>
        <p:spPr>
          <a:xfrm>
            <a:off x="137160" y="731520"/>
            <a:ext cx="2240280" cy="7223759"/>
          </a:xfrm>
          <a:prstGeom prst="roundRect">
            <a:avLst>
              <a:gd name="adj" fmla="val 8000"/>
            </a:avLst>
          </a:prstGeom>
          <a:solidFill>
            <a:srgbClr val="022A1C"/>
          </a:solidFill>
          <a:ln w="19050">
            <a:solidFill>
              <a:srgbClr val="06D6A0"/>
            </a:solidFill>
          </a:ln>
          <a:effectLst/>
        </p:spPr>
        <p:txBody>
          <a:bodyPr/>
          <a:lstStyle/>
          <a:p/>
        </p:txBody>
      </p:sp>
      <p:sp>
        <p:nvSpPr>
          <p:cNvPr id="104" name="r104"/>
          <p:cNvSpPr>
            <a:spLocks noGrp="1"/>
          </p:cNvSpPr>
          <p:nvPr/>
        </p:nvSpPr>
        <p:spPr>
          <a:xfrm>
            <a:off x="137160" y="731520"/>
            <a:ext cx="2240280" cy="402336"/>
          </a:xfrm>
          <a:prstGeom prst="roundRect">
            <a:avLst>
              <a:gd name="adj" fmla="val 8000"/>
            </a:avLst>
          </a:prstGeom>
          <a:solidFill>
            <a:srgbClr val="06D6A0"/>
          </a:solidFill>
          <a:ln w="0">
            <a:noFill/>
          </a:ln>
          <a:effectLst/>
        </p:spPr>
        <p:txBody>
          <a:bodyPr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210311" y="79552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DATA SOURCES</a:t>
            </a:r>
          </a:p>
        </p:txBody>
      </p:sp>
      <p:sp>
        <p:nvSpPr>
          <p:cNvPr id="105" name="r105"/>
          <p:cNvSpPr>
            <a:spLocks noGrp="1"/>
          </p:cNvSpPr>
          <p:nvPr/>
        </p:nvSpPr>
        <p:spPr>
          <a:xfrm>
            <a:off x="246888" y="1234440"/>
            <a:ext cx="2020824" cy="256032"/>
          </a:xfrm>
          <a:prstGeom prst="roundRect">
            <a:avLst>
              <a:gd name="adj" fmla="val 5000"/>
            </a:avLst>
          </a:prstGeom>
          <a:solidFill>
            <a:srgbClr val="044A32"/>
          </a:solidFill>
          <a:ln w="0">
            <a:noFill/>
          </a:ln>
          <a:effectLst/>
        </p:spPr>
        <p:txBody>
          <a:bodyPr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01751" y="125272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6D6A0"/>
                </a:solidFill>
              </a:rPr>
              <a:t>Databases</a:t>
            </a:r>
          </a:p>
        </p:txBody>
      </p:sp>
      <p:sp>
        <p:nvSpPr>
          <p:cNvPr id="106" name="r106"/>
          <p:cNvSpPr>
            <a:spLocks noGrp="1"/>
          </p:cNvSpPr>
          <p:nvPr/>
        </p:nvSpPr>
        <p:spPr>
          <a:xfrm>
            <a:off x="246888" y="1581912"/>
            <a:ext cx="2020824" cy="457200"/>
          </a:xfrm>
          <a:prstGeom prst="roundRect">
            <a:avLst>
              <a:gd name="adj" fmla="val 6000"/>
            </a:avLst>
          </a:prstGeom>
          <a:solidFill>
            <a:srgbClr val="023827"/>
          </a:solidFill>
          <a:ln w="7620">
            <a:solidFill>
              <a:srgbClr val="06D6A0"/>
            </a:solidFill>
          </a:ln>
          <a:effectLst/>
        </p:spPr>
        <p:txBody>
          <a:bodyPr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320040" y="1609344"/>
            <a:ext cx="1874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20040" y="1810512"/>
            <a:ext cx="1874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06D6A0"/>
                </a:solidFill>
              </a:rPr>
              <a:t>CDC (logical replication) / Polling</a:t>
            </a:r>
          </a:p>
        </p:txBody>
      </p:sp>
      <p:sp>
        <p:nvSpPr>
          <p:cNvPr id="107" name="r107"/>
          <p:cNvSpPr>
            <a:spLocks noGrp="1"/>
          </p:cNvSpPr>
          <p:nvPr/>
        </p:nvSpPr>
        <p:spPr>
          <a:xfrm>
            <a:off x="246888" y="2093976"/>
            <a:ext cx="2020824" cy="457200"/>
          </a:xfrm>
          <a:prstGeom prst="roundRect">
            <a:avLst>
              <a:gd name="adj" fmla="val 6000"/>
            </a:avLst>
          </a:prstGeom>
          <a:solidFill>
            <a:srgbClr val="023827"/>
          </a:solidFill>
          <a:ln w="7620">
            <a:solidFill>
              <a:srgbClr val="06D6A0"/>
            </a:solidFill>
          </a:ln>
          <a:effectLst/>
        </p:spPr>
        <p:txBody>
          <a:bodyPr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320040" y="2121408"/>
            <a:ext cx="1874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SQL Server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20040" y="2322576"/>
            <a:ext cx="1874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06D6A0"/>
                </a:solidFill>
              </a:rPr>
              <a:t>CDC (change tracking) / Polling</a:t>
            </a:r>
          </a:p>
        </p:txBody>
      </p:sp>
      <p:sp>
        <p:nvSpPr>
          <p:cNvPr id="108" name="r108"/>
          <p:cNvSpPr>
            <a:spLocks noGrp="1"/>
          </p:cNvSpPr>
          <p:nvPr/>
        </p:nvSpPr>
        <p:spPr>
          <a:xfrm>
            <a:off x="246888" y="2606040"/>
            <a:ext cx="2020824" cy="457200"/>
          </a:xfrm>
          <a:prstGeom prst="roundRect">
            <a:avLst>
              <a:gd name="adj" fmla="val 6000"/>
            </a:avLst>
          </a:prstGeom>
          <a:solidFill>
            <a:srgbClr val="023827"/>
          </a:solidFill>
          <a:ln w="7620">
            <a:solidFill>
              <a:srgbClr val="06D6A0"/>
            </a:solidFill>
          </a:ln>
          <a:effectLst/>
        </p:spPr>
        <p:txBody>
          <a:bodyPr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320040" y="2633472"/>
            <a:ext cx="1874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MongoDB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20040" y="2834640"/>
            <a:ext cx="1874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06D6A0"/>
                </a:solidFill>
              </a:rPr>
              <a:t>Change Streams / Polling</a:t>
            </a:r>
          </a:p>
        </p:txBody>
      </p:sp>
      <p:sp>
        <p:nvSpPr>
          <p:cNvPr id="109" name="r109"/>
          <p:cNvSpPr>
            <a:spLocks noGrp="1"/>
          </p:cNvSpPr>
          <p:nvPr/>
        </p:nvSpPr>
        <p:spPr>
          <a:xfrm>
            <a:off x="246888" y="3118104"/>
            <a:ext cx="2020824" cy="457200"/>
          </a:xfrm>
          <a:prstGeom prst="roundRect">
            <a:avLst>
              <a:gd name="adj" fmla="val 6000"/>
            </a:avLst>
          </a:prstGeom>
          <a:solidFill>
            <a:srgbClr val="023827"/>
          </a:solidFill>
          <a:ln w="7620">
            <a:solidFill>
              <a:srgbClr val="06D6A0"/>
            </a:solidFill>
          </a:ln>
          <a:effectLst/>
        </p:spPr>
        <p:txBody>
          <a:bodyPr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320040" y="3145536"/>
            <a:ext cx="1874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Neo4j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20040" y="3346704"/>
            <a:ext cx="1874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06D6A0"/>
                </a:solidFill>
              </a:rPr>
              <a:t>Polling</a:t>
            </a:r>
          </a:p>
        </p:txBody>
      </p:sp>
      <p:sp>
        <p:nvSpPr>
          <p:cNvPr id="110" name="r110"/>
          <p:cNvSpPr>
            <a:spLocks noGrp="1"/>
          </p:cNvSpPr>
          <p:nvPr/>
        </p:nvSpPr>
        <p:spPr>
          <a:xfrm>
            <a:off x="246888" y="3630168"/>
            <a:ext cx="2020824" cy="457200"/>
          </a:xfrm>
          <a:prstGeom prst="roundRect">
            <a:avLst>
              <a:gd name="adj" fmla="val 6000"/>
            </a:avLst>
          </a:prstGeom>
          <a:solidFill>
            <a:srgbClr val="023827"/>
          </a:solidFill>
          <a:ln w="7620">
            <a:solidFill>
              <a:srgbClr val="06D6A0"/>
            </a:solidFill>
          </a:ln>
          <a:effectLst/>
        </p:spPr>
        <p:txBody>
          <a:bodyPr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20040" y="3657600"/>
            <a:ext cx="1874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Databricks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20040" y="3858768"/>
            <a:ext cx="1874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06D6A0"/>
                </a:solidFill>
              </a:rPr>
              <a:t>CDC / Polling</a:t>
            </a:r>
          </a:p>
        </p:txBody>
      </p:sp>
      <p:sp>
        <p:nvSpPr>
          <p:cNvPr id="111" name="r111"/>
          <p:cNvSpPr>
            <a:spLocks noGrp="1"/>
          </p:cNvSpPr>
          <p:nvPr/>
        </p:nvSpPr>
        <p:spPr>
          <a:xfrm>
            <a:off x="246888" y="4224528"/>
            <a:ext cx="2020824" cy="256032"/>
          </a:xfrm>
          <a:prstGeom prst="roundRect">
            <a:avLst>
              <a:gd name="adj" fmla="val 5000"/>
            </a:avLst>
          </a:prstGeom>
          <a:solidFill>
            <a:srgbClr val="044A32"/>
          </a:solidFill>
          <a:ln w="0">
            <a:noFill/>
          </a:ln>
          <a:effectLst/>
        </p:spPr>
        <p:txBody>
          <a:bodyPr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301751" y="4242816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6D6A0"/>
                </a:solidFill>
              </a:rPr>
              <a:t>REST / HTTP APIs</a:t>
            </a:r>
          </a:p>
        </p:txBody>
      </p:sp>
      <p:sp>
        <p:nvSpPr>
          <p:cNvPr id="112" name="r112"/>
          <p:cNvSpPr>
            <a:spLocks noGrp="1"/>
          </p:cNvSpPr>
          <p:nvPr/>
        </p:nvSpPr>
        <p:spPr>
          <a:xfrm>
            <a:off x="246888" y="4572000"/>
            <a:ext cx="2020824" cy="438912"/>
          </a:xfrm>
          <a:prstGeom prst="roundRect">
            <a:avLst>
              <a:gd name="adj" fmla="val 6000"/>
            </a:avLst>
          </a:prstGeom>
          <a:solidFill>
            <a:srgbClr val="023827"/>
          </a:solidFill>
          <a:ln w="7620">
            <a:solidFill>
              <a:srgbClr val="06D6A0"/>
            </a:solidFill>
          </a:ln>
          <a:effectLst/>
        </p:spPr>
        <p:txBody>
          <a:bodyPr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320040" y="4599432"/>
            <a:ext cx="1874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SharePoint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20040" y="4800600"/>
            <a:ext cx="1874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06D6A0"/>
                </a:solidFill>
              </a:rPr>
              <a:t>Delta / Polling</a:t>
            </a:r>
          </a:p>
        </p:txBody>
      </p:sp>
      <p:sp>
        <p:nvSpPr>
          <p:cNvPr id="113" name="r113"/>
          <p:cNvSpPr>
            <a:spLocks noGrp="1"/>
          </p:cNvSpPr>
          <p:nvPr/>
        </p:nvSpPr>
        <p:spPr>
          <a:xfrm>
            <a:off x="246888" y="5065776"/>
            <a:ext cx="2020824" cy="438912"/>
          </a:xfrm>
          <a:prstGeom prst="roundRect">
            <a:avLst>
              <a:gd name="adj" fmla="val 6000"/>
            </a:avLst>
          </a:prstGeom>
          <a:solidFill>
            <a:srgbClr val="023827"/>
          </a:solidFill>
          <a:ln w="7620">
            <a:solidFill>
              <a:srgbClr val="06D6A0"/>
            </a:solidFill>
          </a:ln>
          <a:effectLst/>
        </p:spPr>
        <p:txBody>
          <a:bodyPr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320040" y="5093208"/>
            <a:ext cx="1874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SAP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20040" y="5294376"/>
            <a:ext cx="1874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06D6A0"/>
                </a:solidFill>
              </a:rPr>
              <a:t>Delta / Polling</a:t>
            </a:r>
          </a:p>
        </p:txBody>
      </p:sp>
      <p:sp>
        <p:nvSpPr>
          <p:cNvPr id="114" name="r114"/>
          <p:cNvSpPr>
            <a:spLocks noGrp="1"/>
          </p:cNvSpPr>
          <p:nvPr/>
        </p:nvSpPr>
        <p:spPr>
          <a:xfrm>
            <a:off x="246888" y="5559552"/>
            <a:ext cx="2020824" cy="438912"/>
          </a:xfrm>
          <a:prstGeom prst="roundRect">
            <a:avLst>
              <a:gd name="adj" fmla="val 6000"/>
            </a:avLst>
          </a:prstGeom>
          <a:solidFill>
            <a:srgbClr val="023827"/>
          </a:solidFill>
          <a:ln w="7620">
            <a:solidFill>
              <a:srgbClr val="06D6A0"/>
            </a:solidFill>
          </a:ln>
          <a:effectLst/>
        </p:spPr>
        <p:txBody>
          <a:bodyPr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320040" y="5586984"/>
            <a:ext cx="1874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Seeq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20040" y="5788152"/>
            <a:ext cx="1874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06D6A0"/>
                </a:solidFill>
              </a:rPr>
              <a:t>Polling</a:t>
            </a:r>
          </a:p>
        </p:txBody>
      </p:sp>
      <p:sp>
        <p:nvSpPr>
          <p:cNvPr id="115" name="r115"/>
          <p:cNvSpPr>
            <a:spLocks noGrp="1"/>
          </p:cNvSpPr>
          <p:nvPr/>
        </p:nvSpPr>
        <p:spPr>
          <a:xfrm>
            <a:off x="246888" y="6053328"/>
            <a:ext cx="2020824" cy="438912"/>
          </a:xfrm>
          <a:prstGeom prst="roundRect">
            <a:avLst>
              <a:gd name="adj" fmla="val 6000"/>
            </a:avLst>
          </a:prstGeom>
          <a:solidFill>
            <a:srgbClr val="023827"/>
          </a:solidFill>
          <a:ln w="7620">
            <a:solidFill>
              <a:srgbClr val="06D6A0"/>
            </a:solidFill>
          </a:ln>
          <a:effectLst/>
        </p:spPr>
        <p:txBody>
          <a:bodyPr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320040" y="6080760"/>
            <a:ext cx="1874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AVEVA PI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20040" y="6281928"/>
            <a:ext cx="1874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1">
                <a:solidFill>
                  <a:srgbClr val="06D6A0"/>
                </a:solidFill>
              </a:rPr>
              <a:t>Polling</a:t>
            </a:r>
          </a:p>
        </p:txBody>
      </p:sp>
      <p:sp>
        <p:nvSpPr>
          <p:cNvPr id="116" name="r116"/>
          <p:cNvSpPr>
            <a:spLocks noGrp="1"/>
          </p:cNvSpPr>
          <p:nvPr/>
        </p:nvSpPr>
        <p:spPr>
          <a:xfrm>
            <a:off x="246888" y="6693407"/>
            <a:ext cx="2020824" cy="512064"/>
          </a:xfrm>
          <a:prstGeom prst="roundRect">
            <a:avLst>
              <a:gd name="adj" fmla="val 6000"/>
            </a:avLst>
          </a:prstGeom>
          <a:solidFill>
            <a:srgbClr val="012218"/>
          </a:solidFill>
          <a:ln w="12700">
            <a:solidFill>
              <a:srgbClr val="06D6A0"/>
            </a:solidFill>
          </a:ln>
          <a:effectLst/>
        </p:spPr>
        <p:txBody>
          <a:bodyPr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301751" y="6729983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6D6A0"/>
                </a:solidFill>
              </a:rPr>
              <a:t>/connectors/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01751" y="691286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CD6E8"/>
                </a:solidFill>
              </a:rPr>
              <a:t>*.yaml | *.json  descriptors</a:t>
            </a:r>
          </a:p>
        </p:txBody>
      </p:sp>
      <p:sp>
        <p:nvSpPr>
          <p:cNvPr id="117" name="r117"/>
          <p:cNvSpPr>
            <a:spLocks noGrp="1"/>
          </p:cNvSpPr>
          <p:nvPr/>
        </p:nvSpPr>
        <p:spPr>
          <a:xfrm>
            <a:off x="2560320" y="731520"/>
            <a:ext cx="2926080" cy="7223759"/>
          </a:xfrm>
          <a:prstGeom prst="roundRect">
            <a:avLst>
              <a:gd name="adj" fmla="val 8000"/>
            </a:avLst>
          </a:prstGeom>
          <a:solidFill>
            <a:srgbClr val="06122E"/>
          </a:solidFill>
          <a:ln w="19050">
            <a:solidFill>
              <a:srgbClr val="00B4D8"/>
            </a:solidFill>
          </a:ln>
          <a:effectLst/>
        </p:spPr>
        <p:txBody>
          <a:bodyPr/>
          <a:lstStyle/>
          <a:p/>
        </p:txBody>
      </p:sp>
      <p:sp>
        <p:nvSpPr>
          <p:cNvPr id="118" name="r118"/>
          <p:cNvSpPr>
            <a:spLocks noGrp="1"/>
          </p:cNvSpPr>
          <p:nvPr/>
        </p:nvSpPr>
        <p:spPr>
          <a:xfrm>
            <a:off x="2560320" y="731520"/>
            <a:ext cx="2926080" cy="402336"/>
          </a:xfrm>
          <a:prstGeom prst="roundRect">
            <a:avLst>
              <a:gd name="adj" fmla="val 8000"/>
            </a:avLst>
          </a:prstGeom>
          <a:solidFill>
            <a:srgbClr val="00B4D8"/>
          </a:solidFill>
          <a:ln w="0">
            <a:noFill/>
          </a:ln>
          <a:effectLst/>
        </p:spPr>
        <p:txBody>
          <a:bodyPr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2633472" y="795528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GENERIC DRIVER LAYER</a:t>
            </a:r>
          </a:p>
        </p:txBody>
      </p:sp>
      <p:sp>
        <p:nvSpPr>
          <p:cNvPr id="119" name="r119"/>
          <p:cNvSpPr>
            <a:spLocks noGrp="1"/>
          </p:cNvSpPr>
          <p:nvPr/>
        </p:nvSpPr>
        <p:spPr>
          <a:xfrm>
            <a:off x="2697479" y="1234440"/>
            <a:ext cx="2651760" cy="530352"/>
          </a:xfrm>
          <a:prstGeom prst="roundRect">
            <a:avLst>
              <a:gd name="adj" fmla="val 6000"/>
            </a:avLst>
          </a:prstGeom>
          <a:solidFill>
            <a:srgbClr val="081C48"/>
          </a:solidFill>
          <a:ln w="10160">
            <a:solidFill>
              <a:srgbClr val="FFB703"/>
            </a:solidFill>
          </a:ln>
          <a:effectLst/>
        </p:spPr>
        <p:txBody>
          <a:bodyPr/>
          <a:lstStyle/>
          <a:p/>
        </p:txBody>
      </p:sp>
      <p:sp>
        <p:nvSpPr>
          <p:cNvPr id="129" name="TextBox 128"/>
          <p:cNvSpPr txBox="1"/>
          <p:nvPr/>
        </p:nvSpPr>
        <p:spPr>
          <a:xfrm>
            <a:off x="2779776" y="128016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B703"/>
                </a:solidFill>
              </a:rPr>
              <a:t>DescriptorBootstrapService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779776" y="1508760"/>
            <a:ext cx="2468880" cy="237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CCD6E8"/>
                </a:solidFill>
              </a:rPr>
              <a:t>Loads all YAML/JSON files at startup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Validates via DescriptorValidator  •  FailOnDescriptorError</a:t>
            </a:r>
          </a:p>
        </p:txBody>
      </p:sp>
      <p:sp>
        <p:nvSpPr>
          <p:cNvPr id="120" name="r120"/>
          <p:cNvSpPr>
            <a:spLocks noGrp="1"/>
          </p:cNvSpPr>
          <p:nvPr/>
        </p:nvSpPr>
        <p:spPr>
          <a:xfrm>
            <a:off x="2697479" y="1847088"/>
            <a:ext cx="2651760" cy="530352"/>
          </a:xfrm>
          <a:prstGeom prst="roundRect">
            <a:avLst>
              <a:gd name="adj" fmla="val 6000"/>
            </a:avLst>
          </a:prstGeom>
          <a:solidFill>
            <a:srgbClr val="081C48"/>
          </a:solidFill>
          <a:ln w="10160">
            <a:solidFill>
              <a:srgbClr val="00B4D8"/>
            </a:solidFill>
          </a:ln>
          <a:effectLst/>
        </p:spPr>
        <p:txBody>
          <a:bodyPr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2779776" y="1892807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B4D8"/>
                </a:solidFill>
              </a:rPr>
              <a:t>DescriptorValidator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779776" y="2121408"/>
            <a:ext cx="2468880" cy="237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CCD6E8"/>
                </a:solidFill>
              </a:rPr>
              <a:t>sourceType ✓  mode ✓  connection fields ✓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Warns: no entities, literal secrets, CDC slots</a:t>
            </a:r>
          </a:p>
        </p:txBody>
      </p:sp>
      <p:sp>
        <p:nvSpPr>
          <p:cNvPr id="121" name="r121"/>
          <p:cNvSpPr>
            <a:spLocks noGrp="1"/>
          </p:cNvSpPr>
          <p:nvPr/>
        </p:nvSpPr>
        <p:spPr>
          <a:xfrm>
            <a:off x="2697479" y="2468880"/>
            <a:ext cx="2651760" cy="530352"/>
          </a:xfrm>
          <a:prstGeom prst="roundRect">
            <a:avLst>
              <a:gd name="adj" fmla="val 6000"/>
            </a:avLst>
          </a:prstGeom>
          <a:solidFill>
            <a:srgbClr val="081C48"/>
          </a:solidFill>
          <a:ln w="10160">
            <a:solidFill>
              <a:srgbClr val="00B4D8"/>
            </a:solidFill>
          </a:ln>
          <a:effectLst/>
        </p:spPr>
        <p:txBody>
          <a:bodyPr/>
          <a:lstStyle/>
          <a:p/>
        </p:txBody>
      </p:sp>
      <p:sp>
        <p:nvSpPr>
          <p:cNvPr id="133" name="TextBox 132"/>
          <p:cNvSpPr txBox="1"/>
          <p:nvPr/>
        </p:nvSpPr>
        <p:spPr>
          <a:xfrm>
            <a:off x="2779776" y="251460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B4D8"/>
                </a:solidFill>
              </a:rPr>
              <a:t>ConnectorRegistry  +  MultiSourceGenericFactory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779776" y="2743200"/>
            <a:ext cx="2468880" cy="237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CCD6E8"/>
                </a:solidFill>
              </a:rPr>
              <a:t>ResolveAll()  →  one GenericConnector per descriptor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Factory lookup: sourceType → IProtocolAdapter</a:t>
            </a:r>
          </a:p>
        </p:txBody>
      </p:sp>
      <p:sp>
        <p:nvSpPr>
          <p:cNvPr id="122" name="r122"/>
          <p:cNvSpPr>
            <a:spLocks noGrp="1"/>
          </p:cNvSpPr>
          <p:nvPr/>
        </p:nvSpPr>
        <p:spPr>
          <a:xfrm>
            <a:off x="2697479" y="3090672"/>
            <a:ext cx="2651760" cy="1280160"/>
          </a:xfrm>
          <a:prstGeom prst="roundRect">
            <a:avLst>
              <a:gd name="adj" fmla="val 6000"/>
            </a:avLst>
          </a:prstGeom>
          <a:solidFill>
            <a:srgbClr val="041238"/>
          </a:solidFill>
          <a:ln w="19050">
            <a:solidFill>
              <a:srgbClr val="00B4D8"/>
            </a:solidFill>
          </a:ln>
          <a:effectLst/>
        </p:spPr>
        <p:txBody>
          <a:bodyPr/>
          <a:lstStyle/>
          <a:p/>
        </p:txBody>
      </p:sp>
      <p:sp>
        <p:nvSpPr>
          <p:cNvPr id="123" name="r123"/>
          <p:cNvSpPr>
            <a:spLocks noGrp="1"/>
          </p:cNvSpPr>
          <p:nvPr/>
        </p:nvSpPr>
        <p:spPr>
          <a:xfrm>
            <a:off x="2697479" y="3090672"/>
            <a:ext cx="2651760" cy="292608"/>
          </a:xfrm>
          <a:prstGeom prst="roundRect">
            <a:avLst>
              <a:gd name="adj" fmla="val 6000"/>
            </a:avLst>
          </a:prstGeom>
          <a:solidFill>
            <a:srgbClr val="00B4D8"/>
          </a:solidFill>
          <a:ln w="0">
            <a:noFill/>
          </a:ln>
          <a:effectLst/>
        </p:spPr>
        <p:txBody>
          <a:bodyPr/>
          <a:lstStyle/>
          <a:p/>
        </p:txBody>
      </p:sp>
      <p:sp>
        <p:nvSpPr>
          <p:cNvPr id="135" name="TextBox 134"/>
          <p:cNvSpPr txBox="1"/>
          <p:nvPr/>
        </p:nvSpPr>
        <p:spPr>
          <a:xfrm>
            <a:off x="2779776" y="310896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1A2E"/>
                </a:solidFill>
              </a:rPr>
              <a:t>GenericConnector  (extends BaseConnector)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779776" y="3410712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CCD6E8"/>
                </a:solidFill>
              </a:rPr>
              <a:t>ConnectAsync()      →  adapter.OpenAsync()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StreamChangesAsync():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   adapter yields RawChangeRecord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   FieldMapper.Apply(record, descriptor.rules)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   → yields RawChangeEvent  (normalized)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DisconnectAsync()   →  adapter.CloseAsync()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BaseConnector: failure tracking, 6-state machine</a:t>
            </a:r>
          </a:p>
        </p:txBody>
      </p:sp>
      <p:sp>
        <p:nvSpPr>
          <p:cNvPr id="124" name="r124"/>
          <p:cNvSpPr>
            <a:spLocks noGrp="1"/>
          </p:cNvSpPr>
          <p:nvPr/>
        </p:nvSpPr>
        <p:spPr>
          <a:xfrm>
            <a:off x="2697479" y="4462272"/>
            <a:ext cx="2651760" cy="475488"/>
          </a:xfrm>
          <a:prstGeom prst="roundRect">
            <a:avLst>
              <a:gd name="adj" fmla="val 6000"/>
            </a:avLst>
          </a:prstGeom>
          <a:solidFill>
            <a:srgbClr val="081C48"/>
          </a:solidFill>
          <a:ln w="10160">
            <a:solidFill>
              <a:srgbClr val="00B4D8"/>
            </a:solidFill>
          </a:ln>
          <a:effectLst/>
        </p:spPr>
        <p:txBody>
          <a:bodyPr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2779776" y="4507992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B4D8"/>
                </a:solidFill>
              </a:rPr>
              <a:t>AdapterRegistry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779776" y="473659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CCD6E8"/>
                </a:solidFill>
              </a:rPr>
              <a:t>Resolves IProtocolAdapter by sourceType at runtime</a:t>
            </a:r>
          </a:p>
        </p:txBody>
      </p:sp>
      <p:sp>
        <p:nvSpPr>
          <p:cNvPr id="125" name="r125"/>
          <p:cNvSpPr>
            <a:spLocks noGrp="1"/>
          </p:cNvSpPr>
          <p:nvPr/>
        </p:nvSpPr>
        <p:spPr>
          <a:xfrm>
            <a:off x="2697479" y="5029200"/>
            <a:ext cx="2651760" cy="685800"/>
          </a:xfrm>
          <a:prstGeom prst="roundRect">
            <a:avLst>
              <a:gd name="adj" fmla="val 6000"/>
            </a:avLst>
          </a:prstGeom>
          <a:solidFill>
            <a:srgbClr val="081C48"/>
          </a:solidFill>
          <a:ln w="10160">
            <a:solidFill>
              <a:srgbClr val="00B4D8"/>
            </a:solidFill>
          </a:ln>
          <a:effectLst/>
        </p:spPr>
        <p:txBody>
          <a:bodyPr/>
          <a:lstStyle/>
          <a:p/>
        </p:txBody>
      </p:sp>
      <p:sp>
        <p:nvSpPr>
          <p:cNvPr id="139" name="TextBox 138"/>
          <p:cNvSpPr txBox="1"/>
          <p:nvPr/>
        </p:nvSpPr>
        <p:spPr>
          <a:xfrm>
            <a:off x="2779776" y="507492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B4D8"/>
                </a:solidFill>
              </a:rPr>
              <a:t>FieldMapper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779776" y="5303520"/>
            <a:ext cx="24688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CCD6E8"/>
                </a:solidFill>
              </a:rPr>
              <a:t>Rename  •  Type-cast  •  Exclude  •  Concept-map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primaryKey dict  +  payload dict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previous_fields  preserved on Update/Delete</a:t>
            </a:r>
          </a:p>
        </p:txBody>
      </p:sp>
      <p:sp>
        <p:nvSpPr>
          <p:cNvPr id="126" name="r126"/>
          <p:cNvSpPr>
            <a:spLocks noGrp="1"/>
          </p:cNvSpPr>
          <p:nvPr/>
        </p:nvSpPr>
        <p:spPr>
          <a:xfrm>
            <a:off x="2697479" y="5815583"/>
            <a:ext cx="2651760" cy="475488"/>
          </a:xfrm>
          <a:prstGeom prst="roundRect">
            <a:avLst>
              <a:gd name="adj" fmla="val 6000"/>
            </a:avLst>
          </a:prstGeom>
          <a:solidFill>
            <a:srgbClr val="081C48"/>
          </a:solidFill>
          <a:ln w="10160">
            <a:solidFill>
              <a:srgbClr val="00B4D8"/>
            </a:solidFill>
          </a:ln>
          <a:effectLst/>
        </p:spPr>
        <p:txBody>
          <a:bodyPr/>
          <a:lstStyle/>
          <a:p/>
        </p:txBody>
      </p:sp>
      <p:sp>
        <p:nvSpPr>
          <p:cNvPr id="141" name="TextBox 140"/>
          <p:cNvSpPr txBox="1"/>
          <p:nvPr/>
        </p:nvSpPr>
        <p:spPr>
          <a:xfrm>
            <a:off x="2779776" y="5861303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B4D8"/>
                </a:solidFill>
              </a:rPr>
              <a:t>SubjectTemplateResolver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779776" y="6089903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CCD6E8"/>
                </a:solidFill>
              </a:rPr>
              <a:t>{context}.{entityPath}.{changeType}  →  NATS subject</a:t>
            </a:r>
          </a:p>
        </p:txBody>
      </p:sp>
      <p:sp>
        <p:nvSpPr>
          <p:cNvPr id="127" name="r127"/>
          <p:cNvSpPr>
            <a:spLocks noGrp="1"/>
          </p:cNvSpPr>
          <p:nvPr/>
        </p:nvSpPr>
        <p:spPr>
          <a:xfrm>
            <a:off x="2697479" y="6382512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081C48"/>
          </a:solidFill>
          <a:ln w="10160">
            <a:solidFill>
              <a:srgbClr val="00B4D8"/>
            </a:solidFill>
          </a:ln>
          <a:effectLst/>
        </p:spPr>
        <p:txBody>
          <a:bodyPr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2779776" y="640080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B4D8"/>
                </a:solidFill>
              </a:rPr>
              <a:t>LifecycleFsm — Driver State Machine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779776" y="6656832"/>
            <a:ext cx="2468880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CCD6E8"/>
                </a:solidFill>
              </a:rPr>
              <a:t>Disconnected ─ start ──► Connecting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Connecting   ─ connected ► Connected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Connected    ─ streaming ► Streaming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Streaming    ─ stop ───► Disconnected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Streaming    ─ restart ─► Connecting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Any state    ─ error ──► Failed</a:t>
            </a:r>
          </a:p>
        </p:txBody>
      </p:sp>
      <p:sp>
        <p:nvSpPr>
          <p:cNvPr id="128" name="r128"/>
          <p:cNvSpPr>
            <a:spLocks noGrp="1"/>
          </p:cNvSpPr>
          <p:nvPr/>
        </p:nvSpPr>
        <p:spPr>
          <a:xfrm>
            <a:off x="5669280" y="731520"/>
            <a:ext cx="3063240" cy="7223759"/>
          </a:xfrm>
          <a:prstGeom prst="roundRect">
            <a:avLst>
              <a:gd name="adj" fmla="val 8000"/>
            </a:avLst>
          </a:prstGeom>
          <a:solidFill>
            <a:srgbClr val="12082E"/>
          </a:solidFill>
          <a:ln w="19050">
            <a:solidFill>
              <a:srgbClr val="9B5DE5"/>
            </a:solidFill>
          </a:ln>
          <a:effectLst/>
        </p:spPr>
        <p:txBody>
          <a:bodyPr/>
          <a:lstStyle/>
          <a:p/>
        </p:txBody>
      </p:sp>
      <p:sp>
        <p:nvSpPr>
          <p:cNvPr id="129" name="r129"/>
          <p:cNvSpPr>
            <a:spLocks noGrp="1"/>
          </p:cNvSpPr>
          <p:nvPr/>
        </p:nvSpPr>
        <p:spPr>
          <a:xfrm>
            <a:off x="5669280" y="731520"/>
            <a:ext cx="3063240" cy="402336"/>
          </a:xfrm>
          <a:prstGeom prst="roundRect">
            <a:avLst>
              <a:gd name="adj" fmla="val 8000"/>
            </a:avLst>
          </a:prstGeom>
          <a:solidFill>
            <a:srgbClr val="9B5DE5"/>
          </a:solidFill>
          <a:ln w="0">
            <a:noFill/>
          </a:ln>
          <a:effectLst/>
        </p:spPr>
        <p:txBody>
          <a:bodyPr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5742432" y="795528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HOST / ORCHESTRATION</a:t>
            </a:r>
          </a:p>
        </p:txBody>
      </p:sp>
      <p:sp>
        <p:nvSpPr>
          <p:cNvPr id="130" name="r130"/>
          <p:cNvSpPr>
            <a:spLocks noGrp="1"/>
          </p:cNvSpPr>
          <p:nvPr/>
        </p:nvSpPr>
        <p:spPr>
          <a:xfrm>
            <a:off x="5806440" y="1234440"/>
            <a:ext cx="2788920" cy="530352"/>
          </a:xfrm>
          <a:prstGeom prst="roundRect">
            <a:avLst>
              <a:gd name="adj" fmla="val 6000"/>
            </a:avLst>
          </a:prstGeom>
          <a:solidFill>
            <a:srgbClr val="1A0C3E"/>
          </a:solidFill>
          <a:ln w="10160">
            <a:solidFill>
              <a:srgbClr val="9B5DE5"/>
            </a:solidFill>
          </a:ln>
          <a:effectLst/>
        </p:spPr>
        <p:txBody>
          <a:bodyPr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5888736" y="1280160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9B5DE5"/>
                </a:solidFill>
              </a:rPr>
              <a:t>StartupSelfTestService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888736" y="1508760"/>
            <a:ext cx="2606040" cy="237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CCD6E8"/>
                </a:solidFill>
              </a:rPr>
              <a:t>Creds file exists ✓  NATS ping ✓  JetStream ✓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StopApplication() on critical failure</a:t>
            </a:r>
          </a:p>
        </p:txBody>
      </p:sp>
      <p:sp>
        <p:nvSpPr>
          <p:cNvPr id="131" name="r131"/>
          <p:cNvSpPr>
            <a:spLocks noGrp="1"/>
          </p:cNvSpPr>
          <p:nvPr/>
        </p:nvSpPr>
        <p:spPr>
          <a:xfrm>
            <a:off x="5806440" y="1865376"/>
            <a:ext cx="2788920" cy="1993392"/>
          </a:xfrm>
          <a:prstGeom prst="roundRect">
            <a:avLst>
              <a:gd name="adj" fmla="val 6000"/>
            </a:avLst>
          </a:prstGeom>
          <a:solidFill>
            <a:srgbClr val="140634"/>
          </a:solidFill>
          <a:ln w="19050">
            <a:solidFill>
              <a:srgbClr val="9B5DE5"/>
            </a:solidFill>
          </a:ln>
          <a:effectLst/>
        </p:spPr>
        <p:txBody>
          <a:bodyPr/>
          <a:lstStyle/>
          <a:p/>
        </p:txBody>
      </p:sp>
      <p:sp>
        <p:nvSpPr>
          <p:cNvPr id="132" name="r132"/>
          <p:cNvSpPr>
            <a:spLocks noGrp="1"/>
          </p:cNvSpPr>
          <p:nvPr/>
        </p:nvSpPr>
        <p:spPr>
          <a:xfrm>
            <a:off x="5806440" y="1865376"/>
            <a:ext cx="2788920" cy="292608"/>
          </a:xfrm>
          <a:prstGeom prst="roundRect">
            <a:avLst>
              <a:gd name="adj" fmla="val 6000"/>
            </a:avLst>
          </a:prstGeom>
          <a:solidFill>
            <a:srgbClr val="9B5DE5"/>
          </a:solidFill>
          <a:ln w="0">
            <a:noFill/>
          </a:ln>
          <a:effectLst/>
        </p:spPr>
        <p:txBody>
          <a:bodyPr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5888736" y="1883664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1A2E"/>
                </a:solidFill>
              </a:rPr>
              <a:t>ConnectorPipelineService  (IHostedService)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888736" y="2176272"/>
            <a:ext cx="2606040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CCD6E8"/>
                </a:solidFill>
              </a:rPr>
              <a:t>1.  registry.ResolveAll()  →  list of ISourceDriver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2.  LaunchDriverAsync(driver)  per driver: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       ConnectAsync()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       while not cancelled: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           StreamChangesAsync()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               pipeline.ProcessAsync(event)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       DisconnectAsync()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       on failure: exponential backoff restart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       stops only if state == Failed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3.  Start / Stop / Restart via lifecycle API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4.  GetAllHealth()  →  per-driver HealthStatus</a:t>
            </a:r>
          </a:p>
        </p:txBody>
      </p:sp>
      <p:sp>
        <p:nvSpPr>
          <p:cNvPr id="133" name="r133"/>
          <p:cNvSpPr>
            <a:spLocks noGrp="1"/>
          </p:cNvSpPr>
          <p:nvPr/>
        </p:nvSpPr>
        <p:spPr>
          <a:xfrm>
            <a:off x="5806440" y="3950208"/>
            <a:ext cx="2788920" cy="658368"/>
          </a:xfrm>
          <a:prstGeom prst="roundRect">
            <a:avLst>
              <a:gd name="adj" fmla="val 6000"/>
            </a:avLst>
          </a:prstGeom>
          <a:solidFill>
            <a:srgbClr val="1A0C3E"/>
          </a:solidFill>
          <a:ln w="10160">
            <a:solidFill>
              <a:srgbClr val="9B5DE5"/>
            </a:solidFill>
          </a:ln>
          <a:effectLst/>
        </p:spPr>
        <p:txBody>
          <a:bodyPr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5888736" y="3968496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9B5DE5"/>
                </a:solidFill>
              </a:rPr>
              <a:t>DefaultEventPipeline  (IEventPipeline)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888736" y="4206240"/>
            <a:ext cx="2606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CCD6E8"/>
                </a:solidFill>
              </a:rPr>
              <a:t>1. NatsPublisher.PublishAsync(event)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2. NatsCheckpointStore.SaveAsync(checkpoint)</a:t>
            </a:r>
          </a:p>
        </p:txBody>
      </p:sp>
      <p:sp>
        <p:nvSpPr>
          <p:cNvPr id="134" name="r134"/>
          <p:cNvSpPr>
            <a:spLocks noGrp="1"/>
          </p:cNvSpPr>
          <p:nvPr/>
        </p:nvSpPr>
        <p:spPr>
          <a:xfrm>
            <a:off x="5806440" y="4718304"/>
            <a:ext cx="2788920" cy="256032"/>
          </a:xfrm>
          <a:prstGeom prst="roundRect">
            <a:avLst>
              <a:gd name="adj" fmla="val 4000"/>
            </a:avLst>
          </a:prstGeom>
          <a:solidFill>
            <a:srgbClr val="231050"/>
          </a:solidFill>
          <a:ln w="0">
            <a:noFill/>
          </a:ln>
          <a:effectLst/>
        </p:spPr>
        <p:txBody>
          <a:bodyPr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5870448" y="4736592"/>
            <a:ext cx="2697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B5DE5"/>
                </a:solidFill>
              </a:rPr>
              <a:t>Background Services  (always running)</a:t>
            </a:r>
          </a:p>
        </p:txBody>
      </p:sp>
      <p:sp>
        <p:nvSpPr>
          <p:cNvPr id="135" name="r135"/>
          <p:cNvSpPr>
            <a:spLocks noGrp="1"/>
          </p:cNvSpPr>
          <p:nvPr/>
        </p:nvSpPr>
        <p:spPr>
          <a:xfrm>
            <a:off x="5806440" y="5065776"/>
            <a:ext cx="2788920" cy="475488"/>
          </a:xfrm>
          <a:prstGeom prst="roundRect">
            <a:avLst>
              <a:gd name="adj" fmla="val 6000"/>
            </a:avLst>
          </a:prstGeom>
          <a:solidFill>
            <a:srgbClr val="1A0C3E"/>
          </a:solidFill>
          <a:ln w="10160">
            <a:solidFill>
              <a:srgbClr val="9B5DE5"/>
            </a:solidFill>
          </a:ln>
          <a:effectLst/>
        </p:spPr>
        <p:txBody>
          <a:bodyPr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5888736" y="5111496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9B5DE5"/>
                </a:solidFill>
              </a:rPr>
              <a:t>HealthHeartbeatService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888736" y="5340096"/>
            <a:ext cx="2606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CCD6E8"/>
                </a:solidFill>
              </a:rPr>
              <a:t>Publishes HealthStatus every 30 s  →  cdc.health.{driverId}</a:t>
            </a:r>
          </a:p>
        </p:txBody>
      </p:sp>
      <p:sp>
        <p:nvSpPr>
          <p:cNvPr id="136" name="r136"/>
          <p:cNvSpPr>
            <a:spLocks noGrp="1"/>
          </p:cNvSpPr>
          <p:nvPr/>
        </p:nvSpPr>
        <p:spPr>
          <a:xfrm>
            <a:off x="5806440" y="5632704"/>
            <a:ext cx="2788920" cy="475488"/>
          </a:xfrm>
          <a:prstGeom prst="roundRect">
            <a:avLst>
              <a:gd name="adj" fmla="val 6000"/>
            </a:avLst>
          </a:prstGeom>
          <a:solidFill>
            <a:srgbClr val="1A0C3E"/>
          </a:solidFill>
          <a:ln w="10160">
            <a:solidFill>
              <a:srgbClr val="9B5DE5"/>
            </a:solidFill>
          </a:ln>
          <a:effectLst/>
        </p:spPr>
        <p:txBody>
          <a:bodyPr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5888736" y="5678424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9B5DE5"/>
                </a:solidFill>
              </a:rPr>
              <a:t>DriverLifecycleService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888736" y="5907024"/>
            <a:ext cx="2606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CCD6E8"/>
                </a:solidFill>
              </a:rPr>
              <a:t>Listens cdc.commands.*  •  dispatches start/stop/restart</a:t>
            </a:r>
          </a:p>
        </p:txBody>
      </p:sp>
      <p:sp>
        <p:nvSpPr>
          <p:cNvPr id="137" name="r137"/>
          <p:cNvSpPr>
            <a:spLocks noGrp="1"/>
          </p:cNvSpPr>
          <p:nvPr/>
        </p:nvSpPr>
        <p:spPr>
          <a:xfrm>
            <a:off x="5806440" y="6199632"/>
            <a:ext cx="2788920" cy="475488"/>
          </a:xfrm>
          <a:prstGeom prst="roundRect">
            <a:avLst>
              <a:gd name="adj" fmla="val 6000"/>
            </a:avLst>
          </a:prstGeom>
          <a:solidFill>
            <a:srgbClr val="1A0C3E"/>
          </a:solidFill>
          <a:ln w="10160">
            <a:solidFill>
              <a:srgbClr val="9B5DE5"/>
            </a:solidFill>
          </a:ln>
          <a:effectLst/>
        </p:spPr>
        <p:txBody>
          <a:bodyPr/>
          <a:lstStyle/>
          <a:p/>
        </p:txBody>
      </p:sp>
      <p:sp>
        <p:nvSpPr>
          <p:cNvPr id="157" name="TextBox 156"/>
          <p:cNvSpPr txBox="1"/>
          <p:nvPr/>
        </p:nvSpPr>
        <p:spPr>
          <a:xfrm>
            <a:off x="5888736" y="6245352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9B5DE5"/>
                </a:solidFill>
              </a:rPr>
              <a:t>OntologyCacheRefreshService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5888736" y="6473952"/>
            <a:ext cx="2606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CCD6E8"/>
                </a:solidFill>
              </a:rPr>
              <a:t>Load Fuseki on startup  •  refresh on cdc.ontology.refresh</a:t>
            </a:r>
          </a:p>
        </p:txBody>
      </p:sp>
      <p:sp>
        <p:nvSpPr>
          <p:cNvPr id="138" name="r138"/>
          <p:cNvSpPr>
            <a:spLocks noGrp="1"/>
          </p:cNvSpPr>
          <p:nvPr/>
        </p:nvSpPr>
        <p:spPr>
          <a:xfrm>
            <a:off x="5806440" y="6766559"/>
            <a:ext cx="2788920" cy="475488"/>
          </a:xfrm>
          <a:prstGeom prst="roundRect">
            <a:avLst>
              <a:gd name="adj" fmla="val 6000"/>
            </a:avLst>
          </a:prstGeom>
          <a:solidFill>
            <a:srgbClr val="1A0C3E"/>
          </a:solidFill>
          <a:ln w="10160">
            <a:solidFill>
              <a:srgbClr val="9B5DE5"/>
            </a:solidFill>
          </a:ln>
          <a:effectLst/>
        </p:spPr>
        <p:txBody>
          <a:bodyPr/>
          <a:lstStyle/>
          <a:p/>
        </p:txBody>
      </p:sp>
      <p:sp>
        <p:nvSpPr>
          <p:cNvPr id="159" name="TextBox 158"/>
          <p:cNvSpPr txBox="1"/>
          <p:nvPr/>
        </p:nvSpPr>
        <p:spPr>
          <a:xfrm>
            <a:off x="5888736" y="6812279"/>
            <a:ext cx="2606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9B5DE5"/>
                </a:solidFill>
              </a:rPr>
              <a:t>NatsHealthCheck  (IHealthCheck)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888736" y="7040879"/>
            <a:ext cx="26060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CCD6E8"/>
                </a:solidFill>
              </a:rPr>
              <a:t>3 s ping shared connection  →  Healthy / Unhealthy</a:t>
            </a:r>
          </a:p>
        </p:txBody>
      </p:sp>
      <p:sp>
        <p:nvSpPr>
          <p:cNvPr id="139" name="r139"/>
          <p:cNvSpPr>
            <a:spLocks noGrp="1"/>
          </p:cNvSpPr>
          <p:nvPr/>
        </p:nvSpPr>
        <p:spPr>
          <a:xfrm>
            <a:off x="8915400" y="731520"/>
            <a:ext cx="2834640" cy="7223759"/>
          </a:xfrm>
          <a:prstGeom prst="roundRect">
            <a:avLst>
              <a:gd name="adj" fmla="val 8000"/>
            </a:avLst>
          </a:prstGeom>
          <a:solidFill>
            <a:srgbClr val="201402"/>
          </a:solidFill>
          <a:ln w="19050">
            <a:solidFill>
              <a:srgbClr val="FFB703"/>
            </a:solidFill>
          </a:ln>
          <a:effectLst/>
        </p:spPr>
        <p:txBody>
          <a:bodyPr/>
          <a:lstStyle/>
          <a:p/>
        </p:txBody>
      </p:sp>
      <p:sp>
        <p:nvSpPr>
          <p:cNvPr id="140" name="r140"/>
          <p:cNvSpPr>
            <a:spLocks noGrp="1"/>
          </p:cNvSpPr>
          <p:nvPr/>
        </p:nvSpPr>
        <p:spPr>
          <a:xfrm>
            <a:off x="8915400" y="731520"/>
            <a:ext cx="2834640" cy="402336"/>
          </a:xfrm>
          <a:prstGeom prst="roundRect">
            <a:avLst>
              <a:gd name="adj" fmla="val 8000"/>
            </a:avLst>
          </a:prstGeom>
          <a:solidFill>
            <a:srgbClr val="FFB703"/>
          </a:solidFill>
          <a:ln w="0">
            <a:noFill/>
          </a:ln>
          <a:effectLst/>
        </p:spPr>
        <p:txBody>
          <a:bodyPr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8988552" y="795528"/>
            <a:ext cx="2697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INFRASTRUCTURE</a:t>
            </a:r>
          </a:p>
        </p:txBody>
      </p:sp>
      <p:sp>
        <p:nvSpPr>
          <p:cNvPr id="141" name="r141"/>
          <p:cNvSpPr>
            <a:spLocks noGrp="1"/>
          </p:cNvSpPr>
          <p:nvPr/>
        </p:nvSpPr>
        <p:spPr>
          <a:xfrm>
            <a:off x="9052560" y="1234440"/>
            <a:ext cx="2560320" cy="731520"/>
          </a:xfrm>
          <a:prstGeom prst="roundRect">
            <a:avLst>
              <a:gd name="adj" fmla="val 6000"/>
            </a:avLst>
          </a:prstGeom>
          <a:solidFill>
            <a:srgbClr val="281804"/>
          </a:solidFill>
          <a:ln w="10160">
            <a:solidFill>
              <a:srgbClr val="FFB703"/>
            </a:solidFill>
          </a:ln>
          <a:effectLst/>
        </p:spPr>
        <p:txBody>
          <a:bodyPr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9134856" y="1280160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B703"/>
                </a:solidFill>
              </a:rPr>
              <a:t>NatsConnectionFactory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134856" y="1508760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CCD6E8"/>
                </a:solidFill>
              </a:rPr>
              <a:t>Lazy singleton NatsConnection (shared by all services)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BuildOpts()  →  wires CredsFile + auth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IAsyncDisposable  →  disposes on app shutdown</a:t>
            </a:r>
          </a:p>
        </p:txBody>
      </p:sp>
      <p:sp>
        <p:nvSpPr>
          <p:cNvPr id="142" name="r142"/>
          <p:cNvSpPr>
            <a:spLocks noGrp="1"/>
          </p:cNvSpPr>
          <p:nvPr/>
        </p:nvSpPr>
        <p:spPr>
          <a:xfrm>
            <a:off x="9052560" y="2048256"/>
            <a:ext cx="2560320" cy="1280160"/>
          </a:xfrm>
          <a:prstGeom prst="roundRect">
            <a:avLst>
              <a:gd name="adj" fmla="val 6000"/>
            </a:avLst>
          </a:prstGeom>
          <a:solidFill>
            <a:srgbClr val="281804"/>
          </a:solidFill>
          <a:ln w="10160">
            <a:solidFill>
              <a:srgbClr val="FFB703"/>
            </a:solidFill>
          </a:ln>
          <a:effectLst/>
        </p:spPr>
        <p:txBody>
          <a:bodyPr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9134856" y="2093976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B703"/>
                </a:solidFill>
              </a:rPr>
              <a:t>NatsPublisher  (INatsPublisher)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134856" y="2322576"/>
            <a:ext cx="2377440" cy="987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CCD6E8"/>
                </a:solidFill>
              </a:rPr>
              <a:t>Serialise  →  Protobuf envelope  +  headers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4-attempt retry:  100 ms → 1 s → 10 s → final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Circuit breaker:  5 failures  →  30 s open window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DLQ route when retries exhausted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Subject: {prefix}.{ctx}.{entity}.{changeType}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Telemetry: ActivitySource  +  Meter counters</a:t>
            </a:r>
          </a:p>
        </p:txBody>
      </p:sp>
      <p:sp>
        <p:nvSpPr>
          <p:cNvPr id="143" name="r143"/>
          <p:cNvSpPr>
            <a:spLocks noGrp="1"/>
          </p:cNvSpPr>
          <p:nvPr/>
        </p:nvSpPr>
        <p:spPr>
          <a:xfrm>
            <a:off x="9052560" y="3419856"/>
            <a:ext cx="2560320" cy="585216"/>
          </a:xfrm>
          <a:prstGeom prst="roundRect">
            <a:avLst>
              <a:gd name="adj" fmla="val 6000"/>
            </a:avLst>
          </a:prstGeom>
          <a:solidFill>
            <a:srgbClr val="281804"/>
          </a:solidFill>
          <a:ln w="10160">
            <a:solidFill>
              <a:srgbClr val="FFB703"/>
            </a:solidFill>
          </a:ln>
          <a:effectLst/>
        </p:spPr>
        <p:txBody>
          <a:bodyPr/>
          <a:lstStyle/>
          <a:p/>
        </p:txBody>
      </p:sp>
      <p:sp>
        <p:nvSpPr>
          <p:cNvPr id="166" name="TextBox 165"/>
          <p:cNvSpPr txBox="1"/>
          <p:nvPr/>
        </p:nvSpPr>
        <p:spPr>
          <a:xfrm>
            <a:off x="9134856" y="3465576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B703"/>
                </a:solidFill>
              </a:rPr>
              <a:t>NatsCheckpointStore  (ICheckpointStore)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134856" y="3694176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CCD6E8"/>
                </a:solidFill>
              </a:rPr>
              <a:t>KV bucket: cm-checkpoints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key: {driverId}.{entityPath}  →  position</a:t>
            </a:r>
          </a:p>
        </p:txBody>
      </p:sp>
      <p:sp>
        <p:nvSpPr>
          <p:cNvPr id="144" name="r144"/>
          <p:cNvSpPr>
            <a:spLocks noGrp="1"/>
          </p:cNvSpPr>
          <p:nvPr/>
        </p:nvSpPr>
        <p:spPr>
          <a:xfrm>
            <a:off x="9052560" y="4096512"/>
            <a:ext cx="2560320" cy="685800"/>
          </a:xfrm>
          <a:prstGeom prst="roundRect">
            <a:avLst>
              <a:gd name="adj" fmla="val 6000"/>
            </a:avLst>
          </a:prstGeom>
          <a:solidFill>
            <a:srgbClr val="281804"/>
          </a:solidFill>
          <a:ln w="10160">
            <a:solidFill>
              <a:srgbClr val="FFB703"/>
            </a:solidFill>
          </a:ln>
          <a:effectLst/>
        </p:spPr>
        <p:txBody>
          <a:bodyPr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9134856" y="4142232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B703"/>
                </a:solidFill>
              </a:rPr>
              <a:t>FusekiOntologyCache  (IOntologyCache)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134856" y="4370832"/>
            <a:ext cx="23774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CCD6E8"/>
                </a:solidFill>
              </a:rPr>
              <a:t>SPARQL query  →  class / property / individual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Indexed by IRI  +  label (case-insensitive)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concept-map  field value  →  ontology IRI</a:t>
            </a:r>
          </a:p>
        </p:txBody>
      </p:sp>
      <p:sp>
        <p:nvSpPr>
          <p:cNvPr id="145" name="r145"/>
          <p:cNvSpPr>
            <a:spLocks noGrp="1"/>
          </p:cNvSpPr>
          <p:nvPr/>
        </p:nvSpPr>
        <p:spPr>
          <a:xfrm>
            <a:off x="9052560" y="4864607"/>
            <a:ext cx="2560320" cy="475488"/>
          </a:xfrm>
          <a:prstGeom prst="roundRect">
            <a:avLst>
              <a:gd name="adj" fmla="val 6000"/>
            </a:avLst>
          </a:prstGeom>
          <a:solidFill>
            <a:srgbClr val="281804"/>
          </a:solidFill>
          <a:ln w="10160">
            <a:solidFill>
              <a:srgbClr val="FFB703"/>
            </a:solidFill>
          </a:ln>
          <a:effectLst/>
        </p:spPr>
        <p:txBody>
          <a:bodyPr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9134856" y="4910327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B703"/>
                </a:solidFill>
              </a:rPr>
              <a:t>FusekiOntologyCache (HTTP)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134856" y="5138927"/>
            <a:ext cx="2377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CCD6E8"/>
                </a:solidFill>
              </a:rPr>
              <a:t>HTTP GET to SPARQL endpoint  •  parses JSON bindings</a:t>
            </a:r>
          </a:p>
        </p:txBody>
      </p:sp>
      <p:sp>
        <p:nvSpPr>
          <p:cNvPr id="146" name="r146"/>
          <p:cNvSpPr>
            <a:spLocks noGrp="1"/>
          </p:cNvSpPr>
          <p:nvPr/>
        </p:nvSpPr>
        <p:spPr>
          <a:xfrm>
            <a:off x="9052560" y="5449824"/>
            <a:ext cx="2560320" cy="585216"/>
          </a:xfrm>
          <a:prstGeom prst="roundRect">
            <a:avLst>
              <a:gd name="adj" fmla="val 6000"/>
            </a:avLst>
          </a:prstGeom>
          <a:solidFill>
            <a:srgbClr val="201402"/>
          </a:solidFill>
          <a:ln w="10160">
            <a:solidFill>
              <a:srgbClr val="806000"/>
            </a:solidFill>
          </a:ln>
          <a:effectLst/>
        </p:spPr>
        <p:txBody>
          <a:bodyPr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9134856" y="5468112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B703"/>
                </a:solidFill>
              </a:rPr>
              <a:t>envelope.proto  (Protobuf schema)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9134856" y="5705856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CCD6E8"/>
                </a:solidFill>
              </a:rPr>
              <a:t>EventId (ULID)  •  DriverId  •  Context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EntityPath  •  ChangeType  •  Fields map</a:t>
            </a:r>
          </a:p>
        </p:txBody>
      </p:sp>
      <p:sp>
        <p:nvSpPr>
          <p:cNvPr id="147" name="r147"/>
          <p:cNvSpPr>
            <a:spLocks noGrp="1"/>
          </p:cNvSpPr>
          <p:nvPr/>
        </p:nvSpPr>
        <p:spPr>
          <a:xfrm>
            <a:off x="11932920" y="731520"/>
            <a:ext cx="2514600" cy="7223759"/>
          </a:xfrm>
          <a:prstGeom prst="roundRect">
            <a:avLst>
              <a:gd name="adj" fmla="val 8000"/>
            </a:avLst>
          </a:prstGeom>
          <a:solidFill>
            <a:srgbClr val="180800"/>
          </a:solidFill>
          <a:ln w="25400">
            <a:solidFill>
              <a:srgbClr val="FFB703"/>
            </a:solidFill>
          </a:ln>
          <a:effectLst/>
        </p:spPr>
        <p:txBody>
          <a:bodyPr/>
          <a:lstStyle/>
          <a:p/>
        </p:txBody>
      </p:sp>
      <p:sp>
        <p:nvSpPr>
          <p:cNvPr id="148" name="r148"/>
          <p:cNvSpPr>
            <a:spLocks noGrp="1"/>
          </p:cNvSpPr>
          <p:nvPr/>
        </p:nvSpPr>
        <p:spPr>
          <a:xfrm>
            <a:off x="11932920" y="731520"/>
            <a:ext cx="2514600" cy="402336"/>
          </a:xfrm>
          <a:prstGeom prst="roundRect">
            <a:avLst>
              <a:gd name="adj" fmla="val 8000"/>
            </a:avLst>
          </a:prstGeom>
          <a:solidFill>
            <a:srgbClr val="FFB703"/>
          </a:solidFill>
          <a:ln w="0">
            <a:noFill/>
          </a:ln>
          <a:effectLst/>
        </p:spPr>
        <p:txBody>
          <a:bodyPr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12006072" y="79552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1A2E"/>
                </a:solidFill>
              </a:rPr>
              <a:t>NATS BROKER</a:t>
            </a:r>
          </a:p>
        </p:txBody>
      </p:sp>
      <p:sp>
        <p:nvSpPr>
          <p:cNvPr id="149" name="r149"/>
          <p:cNvSpPr>
            <a:spLocks noGrp="1"/>
          </p:cNvSpPr>
          <p:nvPr/>
        </p:nvSpPr>
        <p:spPr>
          <a:xfrm>
            <a:off x="12070080" y="1234440"/>
            <a:ext cx="2240280" cy="256032"/>
          </a:xfrm>
          <a:prstGeom prst="roundRect">
            <a:avLst>
              <a:gd name="adj" fmla="val 4000"/>
            </a:avLst>
          </a:prstGeom>
          <a:solidFill>
            <a:srgbClr val="3C2400"/>
          </a:solidFill>
          <a:ln w="0">
            <a:noFill/>
          </a:ln>
          <a:effectLst/>
        </p:spPr>
        <p:txBody>
          <a:bodyPr/>
          <a:lstStyle/>
          <a:p/>
        </p:txBody>
      </p:sp>
      <p:sp>
        <p:nvSpPr>
          <p:cNvPr id="175" name="TextBox 174"/>
          <p:cNvSpPr txBox="1"/>
          <p:nvPr/>
        </p:nvSpPr>
        <p:spPr>
          <a:xfrm>
            <a:off x="12115800" y="1252728"/>
            <a:ext cx="2148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B703"/>
                </a:solidFill>
              </a:rPr>
              <a:t>JetStream  (persistent)</a:t>
            </a:r>
          </a:p>
        </p:txBody>
      </p:sp>
      <p:sp>
        <p:nvSpPr>
          <p:cNvPr id="150" name="r150"/>
          <p:cNvSpPr>
            <a:spLocks noGrp="1"/>
          </p:cNvSpPr>
          <p:nvPr/>
        </p:nvSpPr>
        <p:spPr>
          <a:xfrm>
            <a:off x="12070080" y="1591056"/>
            <a:ext cx="2240280" cy="493776"/>
          </a:xfrm>
          <a:prstGeom prst="roundRect">
            <a:avLst>
              <a:gd name="adj" fmla="val 5000"/>
            </a:avLst>
          </a:prstGeom>
          <a:solidFill>
            <a:srgbClr val="241200"/>
          </a:solidFill>
          <a:ln w="10160">
            <a:solidFill>
              <a:srgbClr val="FFB703"/>
            </a:solidFill>
          </a:ln>
          <a:effectLst/>
        </p:spPr>
        <p:txBody>
          <a:bodyPr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12143232" y="1627632"/>
            <a:ext cx="2057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B703"/>
                </a:solidFill>
              </a:rPr>
              <a:t>cdc.{ctx}.{entity}.{change}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2143232" y="1847088"/>
            <a:ext cx="2057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CCD6E8"/>
                </a:solidFill>
              </a:rPr>
              <a:t>Main event stream</a:t>
            </a:r>
          </a:p>
        </p:txBody>
      </p:sp>
      <p:sp>
        <p:nvSpPr>
          <p:cNvPr id="151" name="r151"/>
          <p:cNvSpPr>
            <a:spLocks noGrp="1"/>
          </p:cNvSpPr>
          <p:nvPr/>
        </p:nvSpPr>
        <p:spPr>
          <a:xfrm>
            <a:off x="12070080" y="2139696"/>
            <a:ext cx="2240280" cy="493776"/>
          </a:xfrm>
          <a:prstGeom prst="roundRect">
            <a:avLst>
              <a:gd name="adj" fmla="val 5000"/>
            </a:avLst>
          </a:prstGeom>
          <a:solidFill>
            <a:srgbClr val="241200"/>
          </a:solidFill>
          <a:ln w="10160">
            <a:solidFill>
              <a:srgbClr val="EF476F"/>
            </a:solidFill>
          </a:ln>
          <a:effectLst/>
        </p:spPr>
        <p:txBody>
          <a:bodyPr/>
          <a:lstStyle/>
          <a:p/>
        </p:txBody>
      </p:sp>
      <p:sp>
        <p:nvSpPr>
          <p:cNvPr id="178" name="TextBox 177"/>
          <p:cNvSpPr txBox="1"/>
          <p:nvPr/>
        </p:nvSpPr>
        <p:spPr>
          <a:xfrm>
            <a:off x="12143232" y="2176272"/>
            <a:ext cx="2057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F476F"/>
                </a:solidFill>
              </a:rPr>
              <a:t>cdc.dlq.*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2143232" y="2395728"/>
            <a:ext cx="2057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CCD6E8"/>
                </a:solidFill>
              </a:rPr>
              <a:t>Dead-letter queue</a:t>
            </a:r>
          </a:p>
        </p:txBody>
      </p:sp>
      <p:sp>
        <p:nvSpPr>
          <p:cNvPr id="152" name="r152"/>
          <p:cNvSpPr>
            <a:spLocks noGrp="1"/>
          </p:cNvSpPr>
          <p:nvPr/>
        </p:nvSpPr>
        <p:spPr>
          <a:xfrm>
            <a:off x="12070080" y="2688336"/>
            <a:ext cx="2240280" cy="493776"/>
          </a:xfrm>
          <a:prstGeom prst="roundRect">
            <a:avLst>
              <a:gd name="adj" fmla="val 5000"/>
            </a:avLst>
          </a:prstGeom>
          <a:solidFill>
            <a:srgbClr val="241200"/>
          </a:solidFill>
          <a:ln w="10160">
            <a:solidFill>
              <a:srgbClr val="FFB703"/>
            </a:solidFill>
          </a:ln>
          <a:effectLst/>
        </p:spPr>
        <p:txBody>
          <a:bodyPr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12143232" y="2724912"/>
            <a:ext cx="2057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B703"/>
                </a:solidFill>
              </a:rPr>
              <a:t>cdc.health.{driverId}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2143232" y="2944368"/>
            <a:ext cx="2057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CCD6E8"/>
                </a:solidFill>
              </a:rPr>
              <a:t>Health heartbeats</a:t>
            </a:r>
          </a:p>
        </p:txBody>
      </p:sp>
      <p:sp>
        <p:nvSpPr>
          <p:cNvPr id="153" name="r153"/>
          <p:cNvSpPr>
            <a:spLocks noGrp="1"/>
          </p:cNvSpPr>
          <p:nvPr/>
        </p:nvSpPr>
        <p:spPr>
          <a:xfrm>
            <a:off x="12070080" y="3236976"/>
            <a:ext cx="2240280" cy="493776"/>
          </a:xfrm>
          <a:prstGeom prst="roundRect">
            <a:avLst>
              <a:gd name="adj" fmla="val 5000"/>
            </a:avLst>
          </a:prstGeom>
          <a:solidFill>
            <a:srgbClr val="241200"/>
          </a:solidFill>
          <a:ln w="10160">
            <a:solidFill>
              <a:srgbClr val="9B5DE5"/>
            </a:solidFill>
          </a:ln>
          <a:effectLst/>
        </p:spPr>
        <p:txBody>
          <a:bodyPr/>
          <a:lstStyle/>
          <a:p/>
        </p:txBody>
      </p:sp>
      <p:sp>
        <p:nvSpPr>
          <p:cNvPr id="182" name="TextBox 181"/>
          <p:cNvSpPr txBox="1"/>
          <p:nvPr/>
        </p:nvSpPr>
        <p:spPr>
          <a:xfrm>
            <a:off x="12143232" y="3273552"/>
            <a:ext cx="2057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9B5DE5"/>
                </a:solidFill>
              </a:rPr>
              <a:t>cdc.lifecycle.{driverId}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2143232" y="3493008"/>
            <a:ext cx="2057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CCD6E8"/>
                </a:solidFill>
              </a:rPr>
              <a:t>State transitions</a:t>
            </a:r>
          </a:p>
        </p:txBody>
      </p:sp>
      <p:sp>
        <p:nvSpPr>
          <p:cNvPr id="154" name="r154"/>
          <p:cNvSpPr>
            <a:spLocks noGrp="1"/>
          </p:cNvSpPr>
          <p:nvPr/>
        </p:nvSpPr>
        <p:spPr>
          <a:xfrm>
            <a:off x="12070080" y="3785615"/>
            <a:ext cx="2240280" cy="493776"/>
          </a:xfrm>
          <a:prstGeom prst="roundRect">
            <a:avLst>
              <a:gd name="adj" fmla="val 5000"/>
            </a:avLst>
          </a:prstGeom>
          <a:solidFill>
            <a:srgbClr val="241200"/>
          </a:solidFill>
          <a:ln w="10160">
            <a:solidFill>
              <a:srgbClr val="00B4D8"/>
            </a:solidFill>
          </a:ln>
          <a:effectLst/>
        </p:spPr>
        <p:txBody>
          <a:bodyPr/>
          <a:lstStyle/>
          <a:p/>
        </p:txBody>
      </p:sp>
      <p:sp>
        <p:nvSpPr>
          <p:cNvPr id="184" name="TextBox 183"/>
          <p:cNvSpPr txBox="1"/>
          <p:nvPr/>
        </p:nvSpPr>
        <p:spPr>
          <a:xfrm>
            <a:off x="12143232" y="3822191"/>
            <a:ext cx="2057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0B4D8"/>
                </a:solidFill>
              </a:rPr>
              <a:t>cdc.commands.{driverId}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2143232" y="4041648"/>
            <a:ext cx="2057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CCD6E8"/>
                </a:solidFill>
              </a:rPr>
              <a:t>Control commands</a:t>
            </a:r>
          </a:p>
        </p:txBody>
      </p:sp>
      <p:sp>
        <p:nvSpPr>
          <p:cNvPr id="155" name="r155"/>
          <p:cNvSpPr>
            <a:spLocks noGrp="1"/>
          </p:cNvSpPr>
          <p:nvPr/>
        </p:nvSpPr>
        <p:spPr>
          <a:xfrm>
            <a:off x="12070080" y="4334256"/>
            <a:ext cx="2240280" cy="493776"/>
          </a:xfrm>
          <a:prstGeom prst="roundRect">
            <a:avLst>
              <a:gd name="adj" fmla="val 5000"/>
            </a:avLst>
          </a:prstGeom>
          <a:solidFill>
            <a:srgbClr val="241200"/>
          </a:solidFill>
          <a:ln w="10160">
            <a:solidFill>
              <a:srgbClr val="FFB703"/>
            </a:solidFill>
          </a:ln>
          <a:effectLst/>
        </p:spPr>
        <p:txBody>
          <a:bodyPr/>
          <a:lstStyle/>
          <a:p/>
        </p:txBody>
      </p:sp>
      <p:sp>
        <p:nvSpPr>
          <p:cNvPr id="186" name="TextBox 185"/>
          <p:cNvSpPr txBox="1"/>
          <p:nvPr/>
        </p:nvSpPr>
        <p:spPr>
          <a:xfrm>
            <a:off x="12143232" y="4370832"/>
            <a:ext cx="2057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B703"/>
                </a:solidFill>
              </a:rPr>
              <a:t>cdc.ontology.refresh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2143232" y="4590288"/>
            <a:ext cx="2057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CCD6E8"/>
                </a:solidFill>
              </a:rPr>
              <a:t>Ontology reload</a:t>
            </a:r>
          </a:p>
        </p:txBody>
      </p:sp>
      <p:sp>
        <p:nvSpPr>
          <p:cNvPr id="156" name="r156"/>
          <p:cNvSpPr>
            <a:spLocks noGrp="1"/>
          </p:cNvSpPr>
          <p:nvPr/>
        </p:nvSpPr>
        <p:spPr>
          <a:xfrm>
            <a:off x="12070080" y="4937759"/>
            <a:ext cx="2240280" cy="256032"/>
          </a:xfrm>
          <a:prstGeom prst="roundRect">
            <a:avLst>
              <a:gd name="adj" fmla="val 4000"/>
            </a:avLst>
          </a:prstGeom>
          <a:solidFill>
            <a:srgbClr val="3C2400"/>
          </a:solidFill>
          <a:ln w="0">
            <a:noFill/>
          </a:ln>
          <a:effectLst/>
        </p:spPr>
        <p:txBody>
          <a:bodyPr/>
          <a:lstStyle/>
          <a:p/>
        </p:txBody>
      </p:sp>
      <p:sp>
        <p:nvSpPr>
          <p:cNvPr id="188" name="TextBox 187"/>
          <p:cNvSpPr txBox="1"/>
          <p:nvPr/>
        </p:nvSpPr>
        <p:spPr>
          <a:xfrm>
            <a:off x="12115800" y="4956048"/>
            <a:ext cx="2148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B703"/>
                </a:solidFill>
              </a:rPr>
              <a:t>KV Store</a:t>
            </a:r>
          </a:p>
        </p:txBody>
      </p:sp>
      <p:sp>
        <p:nvSpPr>
          <p:cNvPr id="157" name="r157"/>
          <p:cNvSpPr>
            <a:spLocks noGrp="1"/>
          </p:cNvSpPr>
          <p:nvPr/>
        </p:nvSpPr>
        <p:spPr>
          <a:xfrm>
            <a:off x="12070080" y="5303520"/>
            <a:ext cx="2240280" cy="475488"/>
          </a:xfrm>
          <a:prstGeom prst="roundRect">
            <a:avLst>
              <a:gd name="adj" fmla="val 5000"/>
            </a:avLst>
          </a:prstGeom>
          <a:solidFill>
            <a:srgbClr val="241200"/>
          </a:solidFill>
          <a:ln w="10160">
            <a:solidFill>
              <a:srgbClr val="FFB703"/>
            </a:solidFill>
          </a:ln>
          <a:effectLst/>
        </p:spPr>
        <p:txBody>
          <a:bodyPr/>
          <a:lstStyle/>
          <a:p/>
        </p:txBody>
      </p:sp>
      <p:sp>
        <p:nvSpPr>
          <p:cNvPr id="189" name="TextBox 188"/>
          <p:cNvSpPr txBox="1"/>
          <p:nvPr/>
        </p:nvSpPr>
        <p:spPr>
          <a:xfrm>
            <a:off x="12143232" y="5321807"/>
            <a:ext cx="2057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B703"/>
                </a:solidFill>
              </a:rPr>
              <a:t>cm-checkpoints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2143232" y="5522976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CD6E8"/>
                </a:solidFill>
              </a:rPr>
              <a:t>{driverId}.{entityPath}  →  position</a:t>
            </a:r>
          </a:p>
        </p:txBody>
      </p:sp>
      <p:sp>
        <p:nvSpPr>
          <p:cNvPr id="158" name="r158"/>
          <p:cNvSpPr>
            <a:spLocks noGrp="1"/>
          </p:cNvSpPr>
          <p:nvPr/>
        </p:nvSpPr>
        <p:spPr>
          <a:xfrm>
            <a:off x="12070080" y="5897880"/>
            <a:ext cx="2240280" cy="594360"/>
          </a:xfrm>
          <a:prstGeom prst="roundRect">
            <a:avLst>
              <a:gd name="adj" fmla="val 5000"/>
            </a:avLst>
          </a:prstGeom>
          <a:solidFill>
            <a:srgbClr val="1A1A00"/>
          </a:solidFill>
          <a:ln w="12700">
            <a:solidFill>
              <a:srgbClr val="F7EC09"/>
            </a:solidFill>
          </a:ln>
          <a:effectLst/>
        </p:spPr>
        <p:txBody>
          <a:bodyPr/>
          <a:lstStyle/>
          <a:p/>
        </p:txBody>
      </p:sp>
      <p:sp>
        <p:nvSpPr>
          <p:cNvPr id="191" name="TextBox 190"/>
          <p:cNvSpPr txBox="1"/>
          <p:nvPr/>
        </p:nvSpPr>
        <p:spPr>
          <a:xfrm>
            <a:off x="12143232" y="5916168"/>
            <a:ext cx="2057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7EC09"/>
                </a:solidFill>
              </a:rPr>
              <a:t>Fuseki  (optional external)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2143232" y="6126480"/>
            <a:ext cx="2057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CCD6E8"/>
                </a:solidFill>
              </a:rPr>
              <a:t>SPARQL endpoint</a:t>
            </a:r>
          </a:p>
          <a:p>
            <a:pPr algn="l"/>
            <a:r>
              <a:rPr sz="700" b="0">
                <a:solidFill>
                  <a:srgbClr val="CCD6E8"/>
                </a:solidFill>
              </a:rPr>
              <a:t>Ontology IRI store</a:t>
            </a:r>
          </a:p>
        </p:txBody>
      </p:sp>
      <p:sp>
        <p:nvSpPr>
          <p:cNvPr id="159" name="r159"/>
          <p:cNvSpPr>
            <a:spLocks noGrp="1"/>
          </p:cNvSpPr>
          <p:nvPr/>
        </p:nvSpPr>
        <p:spPr>
          <a:xfrm>
            <a:off x="12070080" y="6620256"/>
            <a:ext cx="2240280" cy="1097280"/>
          </a:xfrm>
          <a:prstGeom prst="roundRect">
            <a:avLst>
              <a:gd name="adj" fmla="val 5000"/>
            </a:avLst>
          </a:prstGeom>
          <a:solidFill>
            <a:srgbClr val="041A04"/>
          </a:solidFill>
          <a:ln w="15240">
            <a:solidFill>
              <a:srgbClr val="80FF80"/>
            </a:solidFill>
          </a:ln>
          <a:effectLst/>
        </p:spPr>
        <p:txBody>
          <a:bodyPr/>
          <a:lstStyle/>
          <a:p/>
        </p:txBody>
      </p:sp>
      <p:sp>
        <p:nvSpPr>
          <p:cNvPr id="193" name="TextBox 192"/>
          <p:cNvSpPr txBox="1"/>
          <p:nvPr/>
        </p:nvSpPr>
        <p:spPr>
          <a:xfrm>
            <a:off x="12143232" y="6638544"/>
            <a:ext cx="2057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0FF80"/>
                </a:solidFill>
              </a:rPr>
              <a:t>Downstream Consumers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2143232" y="6894576"/>
            <a:ext cx="20574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CCD6E8"/>
                </a:solidFill>
              </a:rPr>
              <a:t>Digital twin pipelines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Analytics / dashboards</a:t>
            </a:r>
          </a:p>
          <a:p>
            <a:pPr algn="l"/>
            <a:r>
              <a:rPr sz="750" b="0">
                <a:solidFill>
                  <a:srgbClr val="CCD6E8"/>
                </a:solidFill>
              </a:rPr>
              <a:t>Event-driven workflows</a:t>
            </a:r>
          </a:p>
        </p:txBody>
      </p:sp>
      <p:sp>
        <p:nvSpPr>
          <p:cNvPr id="160" name="arr160"/>
          <p:cNvSpPr>
            <a:spLocks noGrp="1"/>
          </p:cNvSpPr>
          <p:nvPr/>
        </p:nvSpPr>
        <p:spPr>
          <a:xfrm>
            <a:off x="2395728" y="3931920"/>
            <a:ext cx="146304" cy="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6D6A0"/>
          </a:solidFill>
          <a:ln w="0">
            <a:noFill/>
          </a:ln>
        </p:spPr>
        <p:txBody>
          <a:bodyPr/>
          <a:lstStyle/>
          <a:p/>
        </p:txBody>
      </p:sp>
      <p:sp>
        <p:nvSpPr>
          <p:cNvPr id="161" name="arr161"/>
          <p:cNvSpPr>
            <a:spLocks noGrp="1"/>
          </p:cNvSpPr>
          <p:nvPr/>
        </p:nvSpPr>
        <p:spPr>
          <a:xfrm>
            <a:off x="5504688" y="4572000"/>
            <a:ext cx="146304" cy="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B4D8"/>
          </a:solidFill>
          <a:ln w="0">
            <a:noFill/>
          </a:ln>
        </p:spPr>
        <p:txBody>
          <a:bodyPr/>
          <a:lstStyle/>
          <a:p/>
        </p:txBody>
      </p:sp>
      <p:sp>
        <p:nvSpPr>
          <p:cNvPr id="162" name="arr162"/>
          <p:cNvSpPr>
            <a:spLocks noGrp="1"/>
          </p:cNvSpPr>
          <p:nvPr/>
        </p:nvSpPr>
        <p:spPr>
          <a:xfrm>
            <a:off x="8750808" y="4297680"/>
            <a:ext cx="146304" cy="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B5DE5"/>
          </a:solidFill>
          <a:ln w="0">
            <a:noFill/>
          </a:ln>
        </p:spPr>
        <p:txBody>
          <a:bodyPr/>
          <a:lstStyle/>
          <a:p/>
        </p:txBody>
      </p:sp>
      <p:sp>
        <p:nvSpPr>
          <p:cNvPr id="163" name="arr163"/>
          <p:cNvSpPr>
            <a:spLocks noGrp="1"/>
          </p:cNvSpPr>
          <p:nvPr/>
        </p:nvSpPr>
        <p:spPr>
          <a:xfrm>
            <a:off x="11768328" y="3383280"/>
            <a:ext cx="146304" cy="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B703"/>
          </a:solidFill>
          <a:ln w="0">
            <a:noFill/>
          </a:ln>
        </p:spPr>
        <p:txBody>
          <a:bodyPr/>
          <a:lstStyle/>
          <a:p/>
        </p:txBody>
      </p:sp>
      <p:sp>
        <p:nvSpPr>
          <p:cNvPr id="164" name="r164"/>
          <p:cNvSpPr>
            <a:spLocks noGrp="1"/>
          </p:cNvSpPr>
          <p:nvPr/>
        </p:nvSpPr>
        <p:spPr>
          <a:xfrm>
            <a:off x="91440" y="7863840"/>
            <a:ext cx="14447520" cy="274320"/>
          </a:xfrm>
          <a:prstGeom prst="roundRect">
            <a:avLst>
              <a:gd name="adj" fmla="val 4000"/>
            </a:avLst>
          </a:prstGeom>
          <a:solidFill>
            <a:srgbClr val="080818"/>
          </a:solidFill>
          <a:ln w="0">
            <a:noFill/>
          </a:ln>
          <a:effectLst/>
        </p:spPr>
        <p:txBody>
          <a:bodyPr/>
          <a:lstStyle/>
          <a:p/>
        </p:txBody>
      </p:sp>
      <p:sp>
        <p:nvSpPr>
          <p:cNvPr id="195" name="TextBox 194"/>
          <p:cNvSpPr txBox="1"/>
          <p:nvPr/>
        </p:nvSpPr>
        <p:spPr>
          <a:xfrm>
            <a:off x="164592" y="7882127"/>
            <a:ext cx="1426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00B4D8"/>
                </a:solidFill>
              </a:rPr>
              <a:t>Event flow:  Source DB / API  →  IProtocolAdapter  →  RawChangeRecord  →  FieldMapper  →  RawChangeEvent  →  DefaultEventPipeline  →  NatsPublisher (protobuf)  →  NATS JetStream  →  Consumers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